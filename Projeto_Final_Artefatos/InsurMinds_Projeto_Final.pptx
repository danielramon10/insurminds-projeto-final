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3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2377440"/>
          </a:xfrm>
          <a:prstGeom prst="rect">
            <a:avLst/>
          </a:prstGeom>
          <a:solidFill>
            <a:srgbClr val="0E6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325880"/>
            <a:ext cx="1645920" cy="762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858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9FD8CE"/>
                </a:solidFill>
                <a:latin typeface="Segoe UI"/>
              </a:rPr>
              <a:t>CURSO INSURMINDS · I2A2 — PROJETO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Comparar duas apólices D&amp;O</a:t>
            </a:r>
          </a:p>
          <a:p>
            <a:pPr algn="l"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sem perder a origem de</a:t>
            </a:r>
          </a:p>
          <a:p>
            <a:pPr algn="l"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nenhum número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17520"/>
            <a:ext cx="96926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D7E7E4"/>
                </a:solidFill>
                <a:latin typeface="Segoe UI"/>
              </a:rPr>
              <a:t>A plataforma lê condições gerais em PDF ou imagem, extrai as cláusulas com IA generativa e mostra, lado a lado, o que muda de uma seguradora para outra — com a página e o trecho de onde cada valor saiu.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84632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Segoe UI"/>
              </a:rPr>
              <a:t>Grupo Jarvis · Daniel Ramon, Paulo Henrique, Nicole Paes, Paulo Roberto e Juliana Catarina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Segoe UI"/>
              </a:rPr>
              <a:t>Entrega: 06/10/2026 · protótipo acadêmico, sem integração com seguradoras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Comparar apólices D&amp;O é trabalho de especialista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4748B"/>
                </a:solidFill>
                <a:latin typeface="Segoe UI"/>
              </a:rPr>
              <a:t>Problema de negócio descrito pelo corretor do grupo — é a dor que ele vive no dia a dia.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4884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63500" cy="185166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33172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⏳  Horas de leitura por comparação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77063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As condições gerais passam de 70 páginas em linguagem jurídica. Comparar duas propostas é leitura especializada, não planilha de valores.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5867" y="214884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55867" y="2148840"/>
            <a:ext cx="63500" cy="185166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1899" y="233172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🔀  A mesma cláusula, outro nome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1899" y="277063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Cada seguradora batiza a mesma coisa de um jeito: limite de garantia, capital segurado, LMI, participação obrigatória. Buscar por palavra não resolve.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27482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274820"/>
            <a:ext cx="63500" cy="185166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45770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⚠️  A diferença que decide o contrato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489661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Franquia, retroatividade, sublimites e cobertura para investigações são os pontos em que duas apólices parecidas deixam de ser parecidas.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55867" y="427482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55867" y="4274820"/>
            <a:ext cx="63500" cy="185166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1899" y="445770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📄  Entrada não estruturada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1899" y="489661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Não há API devolvendo números: a entrada é PDF jurídico. Quem lê, lê texto corrido.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Jarvis / I2A2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A PROPOSTA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O que a plataforma faz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4748B"/>
                </a:solidFill>
                <a:latin typeface="Segoe UI"/>
              </a:rPr>
              <a:t>Três passos, do arquivo que chega à diferença que importa.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48840"/>
            <a:ext cx="3423818" cy="3977639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63500" cy="3977639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331720"/>
            <a:ext cx="2966618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📥  Lê o documento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770632"/>
            <a:ext cx="2966618" cy="32003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PDF nativo com pypdf; OCR e imagem quando não há texto embutido. Todo trecho sabe de que página saiu — a rastreabilidade começa aqui.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3938" y="2148840"/>
            <a:ext cx="3423818" cy="3977639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3938" y="2148840"/>
            <a:ext cx="63500" cy="3977639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9970" y="2331720"/>
            <a:ext cx="2966618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🤖  Extrai as cláusulas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9970" y="2770632"/>
            <a:ext cx="2966618" cy="32003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Um dicionário de 15 campos escritos pelo corretor guia a extração com modelo de linguagem. Campo que a apólice não trata volta como ausente, nunca inventado.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7796" y="2148840"/>
            <a:ext cx="3423818" cy="3977639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27796" y="2148840"/>
            <a:ext cx="63500" cy="3977639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83828" y="2331720"/>
            <a:ext cx="2966618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⚖️  Compara e explica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3828" y="2770632"/>
            <a:ext cx="2966618" cy="32003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O motor determinístico diz o que difere, campo a campo, e classifica a diferença. A explicação do peso de cada uma vem do especialista, no dicionário.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Jarvis / I2A2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ARQUITETURA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Quatro frentes, um contrato de dados entre elas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4748B"/>
                </a:solidFill>
                <a:latin typeface="Segoe UI"/>
              </a:rPr>
              <a:t>Cada frente só conhece as estruturas de `app/schemas.py` — não o interior das outras.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286000"/>
            <a:ext cx="2727883" cy="731520"/>
          </a:xfrm>
          <a:prstGeom prst="rect">
            <a:avLst/>
          </a:prstGeom>
          <a:solidFill>
            <a:srgbClr val="0E6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487168"/>
            <a:ext cx="2727883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A · INGESTÃO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3154680"/>
            <a:ext cx="2471851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F172A"/>
                </a:solidFill>
                <a:latin typeface="Segoe UI"/>
              </a:rPr>
              <a:t>Recebe PDF e imagem, extrai o texto página a página, usa OCR só onde falta texto embutido e não derruba o lote quando um arquivo falha.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67963" y="2286000"/>
            <a:ext cx="2727883" cy="7315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67963" y="2487168"/>
            <a:ext cx="2727883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B · EXTRAÇÃO E REDAÇÃO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95979" y="3154680"/>
            <a:ext cx="2471851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F172A"/>
                </a:solidFill>
                <a:latin typeface="Segoe UI"/>
              </a:rPr>
              <a:t>Interpreta o texto com LLM, apoiada no dicionário de campos, e devolve cada valor com página e trecho de origem. O redator escreve o que difere, e só afirma diferença quando cita as duas apólices.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5846" y="2286000"/>
            <a:ext cx="2727883" cy="731520"/>
          </a:xfrm>
          <a:prstGeom prst="rect">
            <a:avLst/>
          </a:prstGeom>
          <a:solidFill>
            <a:srgbClr val="083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5846" y="2487168"/>
            <a:ext cx="2727883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C · ARMAZENAMENTO E COMPARAÇÃO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3862" y="3154680"/>
            <a:ext cx="2471851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F172A"/>
                </a:solidFill>
                <a:latin typeface="Segoe UI"/>
              </a:rPr>
              <a:t>Guarda as apólices processadas em SQLite e compara campo a campo, sem modelo de linguagem: mesma entrada, mesma saída.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23729" y="2286000"/>
            <a:ext cx="2727883" cy="7315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23729" y="2487168"/>
            <a:ext cx="2727883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D · INTERFACE E DEMONSTRAÇÃO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51745" y="3154680"/>
            <a:ext cx="2471851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F172A"/>
                </a:solidFill>
                <a:latin typeface="Segoe UI"/>
              </a:rPr>
              <a:t>Upload, comparação lado a lado, rastreabilidade clicável e saída em CSV. É o que a banca vê funcionando.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394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4748B"/>
                </a:solidFill>
                <a:latin typeface="Segoe UI"/>
              </a:rPr>
              <a:t>Frentes A e C: Daniel Ramon · frente B: Nicole Paes · dicionário de campos: Paulo Henrique · frente D: Paulo Roberto. A separação existe para que cada parte possa ser testada sozinha — e para que a explicação em texto (LLM) nunca contamine a comparação, que precisa ser reprodutível. É o que permite 259 testes automatizados sem tocar a rede: tudo o que é decisão de negócio é determinístico.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Jarvis / I2A2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IA GENERATIVA COM RESPONSABILIDADE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O risco não é ler errado — é inventar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4748B"/>
                </a:solidFill>
                <a:latin typeface="Segoe UI"/>
              </a:rPr>
              <a:t>Um limite de indenização alucinado passaria despercebido numa demonstração e destruiria a credibilidade numa pergunta.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4884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63500" cy="18516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33172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🧭  Todo valor tem origem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77063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Página e trecho acompanham cada campo extraído; na interface, a página do PDF abre para conferência. Sem isso o sistema seria um chute bem formatado.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5867" y="214884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55867" y="2148840"/>
            <a:ext cx="63500" cy="18516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1899" y="233172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🚫  Ausência é resposta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1899" y="277063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Campo que não existe volta como `null` explícito, e a comparação trata ausência como ausência — é a diferença que mais pesa e a que mais se esconde.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27482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274820"/>
            <a:ext cx="63500" cy="18516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45770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🧩  Cada camada no seu lugar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489661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Extração (LLM), comparação (código determinístico) e explicação (texto) são frentes separadas. Misturá-las custou retrabalho no desafio anterior.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55867" y="427482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55867" y="4274820"/>
            <a:ext cx="63500" cy="18516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1899" y="445770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🧪  Testes sem rede e sem cota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1899" y="489661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A suíte cobre leitura de valores, vereditos, banco, apresentação e a própria interface, sem consumir um token de modelo.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Jarvis / I2A2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DECISÃO DE NEGÓCIO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O que comparar — a decisão que veio antes do código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4748B"/>
                </a:solidFill>
                <a:latin typeface="Segoe UI"/>
              </a:rPr>
              <a:t>Menos que isso não demonstra comparação; mais vira extração rasa em todos os campos.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2522143" cy="762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0D9488"/>
                </a:solidFill>
                <a:latin typeface="Segoe UI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campos no dicionário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definidos pelo corretor do grupo, em YAML: mudar o arquivo muda o sistema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36543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36543" y="2240280"/>
            <a:ext cx="2522143" cy="76200"/>
          </a:xfrm>
          <a:prstGeom prst="rect">
            <a:avLst/>
          </a:prstGeom>
          <a:solidFill>
            <a:srgbClr val="0E6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65143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0E6E63"/>
                </a:solidFill>
                <a:latin typeface="Segoe U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5143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tipos de comparação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65143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valor monetário, data, período, prazo e texto, cada um comparado à sua maneira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3006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3006" y="2240280"/>
            <a:ext cx="2522143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1606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F59E0B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1606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campos acrescentados por ele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6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definição de reclamação, sublimites e cobertura para investigações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29469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29469" y="2240280"/>
            <a:ext cx="2522143" cy="76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58069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7C3AED"/>
                </a:solidFill>
                <a:latin typeface="Segoe U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69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apólices reais na demonstração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58069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Chubb e AIG; a terceira (Allianz) está pendente de download manual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800600"/>
            <a:ext cx="108813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O dicionário cumpre aqui o papel que o `regras.yaml` cumpriu no desafio anterior: é a peça de negócio que o especialista controla sem tocar em código. Cada campo traz o significado, os sinônimos com que costuma aparecer e uma frase dizendo por que aquela diferença importa.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Jarvis / I2A2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INGESTÃO MEDIDA NOS DOCUMENTOS REAIS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O que custa ler uma apólice D&amp;O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4748B"/>
                </a:solidFill>
                <a:latin typeface="Segoe UI"/>
              </a:rPr>
              <a:t>Números medidos nos dois documentos, não estimados.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2522143" cy="762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0D9488"/>
                </a:solidFill>
                <a:latin typeface="Segoe UI"/>
              </a:rPr>
              <a:t>70 e 72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páginas por apólice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condições gerais da Chubb e da AIG, ambas em PDF nativo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36543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36543" y="2240280"/>
            <a:ext cx="2522143" cy="762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65143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DC2626"/>
                </a:solidFill>
                <a:latin typeface="Segoe UI"/>
              </a:rPr>
              <a:t>~36 mil e ~39 mil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5143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tokens por apólice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65143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3 a 4 vezes o custo de uma extração simples: cota de modelo é risco do projeto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3006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3006" y="2240280"/>
            <a:ext cx="2522143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1606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16A34A"/>
                </a:solidFill>
                <a:latin typeface="Segoe UI"/>
              </a:rPr>
              <a:t>17,6 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1606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para ler as duas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6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tempo medido nesta máquina, sem OCR e sem chamada de modelo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29469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29469" y="2240280"/>
            <a:ext cx="2522143" cy="76200"/>
          </a:xfrm>
          <a:prstGeom prst="rect">
            <a:avLst/>
          </a:prstGeom>
          <a:solidFill>
            <a:srgbClr val="0E6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58069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0E6E63"/>
                </a:solidFill>
                <a:latin typeface="Segoe UI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69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formatos de imagem aceitos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58069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png, jpg, tiff, bmp e webp: o requisito de aceitar imagem está atendido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800600"/>
            <a:ext cx="108813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A decisão de ler PDF nativo primeiro e cair no OCR só na página sem texto é o que mantém esse tempo baixo — e o custo de OCR em documento inteiro seria de minutos, não segundos.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Jarvis / I2A2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DEMONSTRAÇÃO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A plataforma em uso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4748B"/>
                </a:solidFill>
                <a:latin typeface="Segoe UI"/>
              </a:rPr>
              <a:t>Três telas que contam a história: comparação, origem do dado e a comparação inteira para levar embora.</a:t>
            </a:r>
          </a:p>
        </p:txBody>
      </p:sp>
      <p:sp>
        <p:nvSpPr>
          <p:cNvPr id="7" name="Rectangle 6"/>
          <p:cNvSpPr/>
          <p:nvPr/>
        </p:nvSpPr>
        <p:spPr>
          <a:xfrm>
            <a:off x="836025" y="2039112"/>
            <a:ext cx="3062408" cy="24140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1_compa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313" y="2057400"/>
            <a:ext cx="3025832" cy="23774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4553712"/>
            <a:ext cx="345429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0D9488"/>
                </a:solidFill>
                <a:latin typeface="Segoe UI"/>
              </a:rPr>
              <a:t>COMPARAÇÃO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809744"/>
            <a:ext cx="3179978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As diferenças lado a lado, agrupadas por situação: proteção ausente em uma delas, valores diferentes e redações divergentes.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50410" y="2110265"/>
            <a:ext cx="3490874" cy="227171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02_de_onde_ve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8698" y="2128553"/>
            <a:ext cx="3454298" cy="223513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68698" y="4553712"/>
            <a:ext cx="345429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0D9488"/>
                </a:solidFill>
                <a:latin typeface="Segoe UI"/>
              </a:rPr>
              <a:t>DE ONDE VEIO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5858" y="4809744"/>
            <a:ext cx="3179978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Ao clicar num valor, o trecho de origem e a página do PDF renderizada — a conferência acontece sem sair da tela.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93261" y="2039112"/>
            <a:ext cx="3062408" cy="24140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03_tabela_csv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1549" y="2057400"/>
            <a:ext cx="3025832" cy="23774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097316" y="4553712"/>
            <a:ext cx="345429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0D9488"/>
                </a:solidFill>
                <a:latin typeface="Segoe UI"/>
              </a:rPr>
              <a:t>TABELA E CSV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4476" y="4809744"/>
            <a:ext cx="3179978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A comparação inteira, campo a campo, com a situação colorida e saída em CSV pronta para o Excel.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Rodar: `streamlit run app/interface/app.py` · a demonstração também funciona por linha de comando (`python -m scripts.demo_frente_d`), para o vídeo não depender do navegador.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Jarvis / I2A2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O QUE A COMPARAÇÃO APONTA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O resultado, campo a campo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4748B"/>
                </a:solidFill>
                <a:latin typeface="Segoe UI"/>
              </a:rPr>
              <a:t>Saída do motor de comparação sobre as extrações de exemplo da demonstração.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240280"/>
            <a:ext cx="2522143" cy="76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B45309"/>
                </a:solidFill>
                <a:latin typeface="Segoe U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proteções ausentes em uma delas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sublimites, multas administrativas e cobertura para investigações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36543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36543" y="2240280"/>
            <a:ext cx="2522143" cy="762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65143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DC2626"/>
                </a:solidFill>
                <a:latin typeface="Segoe U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5143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valores diferentes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65143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franquia e data de retroatividade — os números que mudam o preço do risco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3006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3006" y="2240280"/>
            <a:ext cx="2522143" cy="76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1606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7C3AED"/>
                </a:solidFill>
                <a:latin typeface="Segoe UI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1606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redações divergentes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6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as duas tratam do assunto com palavras diferentes: exige leitura humana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29469" y="2240280"/>
            <a:ext cx="2522143" cy="224028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29469" y="2240280"/>
            <a:ext cx="2522143" cy="762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58069" y="2514600"/>
            <a:ext cx="206494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16A34A"/>
                </a:solidFill>
                <a:latin typeface="Segoe UI"/>
              </a:rPr>
              <a:t>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69" y="3291840"/>
            <a:ext cx="206494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8312F"/>
                </a:solidFill>
                <a:latin typeface="Segoe UI"/>
              </a:rPr>
              <a:t>valores com origem registrada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58069" y="3657600"/>
            <a:ext cx="2064943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100% do que foi encontrado aponta página e trecho: nenhum número solto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800600"/>
            <a:ext cx="108813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Medido sobre as extrações de exemplo, porque os campos numéricos não têm valor nas condições gerais comparadas — elas remetem cada um à Especificação da Apólice, como o slide de limitações documenta. Ingestão, banco, comparação e rastreabilidade são reais e estão no código; trocar a fonte dos campos não muda a tela — é isso que os exemplos garantiram.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Jarvis / I2A2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TECNOLOGIAS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Com o que foi construído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5295747" cy="126492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63500" cy="12649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6596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🐍  Python 3.10+ e pydantic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04872"/>
            <a:ext cx="4838547" cy="48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Os contratos entre frentes são modelos validados: um campo repetido ou uma página fora de ordem falham na hora, não no meio da comparação.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783080"/>
            <a:ext cx="5295747" cy="126492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783080"/>
            <a:ext cx="63500" cy="12649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1899" y="196596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🎛️  Streamlit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1899" y="2404872"/>
            <a:ext cx="4838547" cy="48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Interface com selos de veredito, cartões lado a lado, tabela colorida e a página do PDF renderizada — tudo em componentes nativos.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322320"/>
            <a:ext cx="5295747" cy="126492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322320"/>
            <a:ext cx="63500" cy="12649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350520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🔗  LangChain com cascata de provedores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3944112"/>
            <a:ext cx="4838547" cy="48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Gemini como padrão e queda automática para Groq, OpenRouter e outros quando a cota do dia acaba. Chave nunca mora no código: só no `.env`.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5867" y="3322320"/>
            <a:ext cx="5295747" cy="126492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55867" y="3322320"/>
            <a:ext cx="63500" cy="12649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1899" y="350520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📄  pypdf e Tesseract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1899" y="3944112"/>
            <a:ext cx="4838547" cy="48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PDF nativo primeiro, rápido e exato; OCR só na página sem texto embutido, porque documento escaneado é caro de ler.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861560"/>
            <a:ext cx="5295747" cy="126492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861560"/>
            <a:ext cx="63500" cy="12649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504444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🗄️  SQLite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5483352"/>
            <a:ext cx="4838547" cy="48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Armazenamento estruturado sem subir serviço: o MVP roda em qualquer máquina, e a rastreabilidade sobrevive à gravação.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55867" y="4861560"/>
            <a:ext cx="5295747" cy="126492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55867" y="4861560"/>
            <a:ext cx="63500" cy="12649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1899" y="504444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🧪  pytest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11899" y="5483352"/>
            <a:ext cx="4838547" cy="48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A suíte roda sem rede e sem cota de modelo — o que permite testar o motor a cada mudança, inclusive nas vésperas da entrega.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Jarvis / I2A2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LIMITAÇÕES CONHECIDAS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Onde este protótipo ainda é frágil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64748B"/>
                </a:solidFill>
                <a:latin typeface="Segoe UI"/>
              </a:rPr>
              <a:t>Cada frente registrou onde a própria parte não aguenta — é o que este slide documenta.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4884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63500" cy="18516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33172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🚧  Sem a especificação, não há número para comparar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77063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As condições gerais remetem LMI, franquia, vigência, retroatividade e sublimites à Especificação da Apólice, que não está no lote. A extração com modelo de linguagem acha a cláusula e cita a página; comparar número fica para quando ela entrar.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5867" y="214884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55867" y="2148840"/>
            <a:ext cx="63500" cy="18516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1899" y="233172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🔑  Dependência de chave e cota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1899" y="277063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Sem chave configurada não há extração; a cascata de provedores ameniza o limite de cota, não o elimina.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27482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274820"/>
            <a:ext cx="63500" cy="18516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45770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🔤  OCR depende do ambiente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489661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Sem o Tesseract instalado, PDF escaneado e imagem ficam de fora. PDF nativo não depende dele.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55867" y="4274820"/>
            <a:ext cx="5295747" cy="185166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55867" y="4274820"/>
            <a:ext cx="63500" cy="18516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1899" y="445770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🧠  Equivalência de texto exige leitura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1899" y="4896612"/>
            <a:ext cx="4838547" cy="10744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Duas redações diferentes podem dizer a mesma coisa. O motor aponta a divergência e não decide por conta própria — quem decide é o redator (C.4).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Jarvis / I2A2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EVOLUÇÃO FUTURA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O que vem depois da entrega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5295747" cy="203454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63500" cy="20345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6596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✍️  Redator automático (C.4)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04872"/>
            <a:ext cx="4838547" cy="12573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Gerar, a partir das diferenças já classificadas, o texto que explica o peso de cada uma para quem vai contratar.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783080"/>
            <a:ext cx="5295747" cy="203454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783080"/>
            <a:ext cx="63500" cy="20345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1899" y="196596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🧠  Comparação semântica assistida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1899" y="2404872"/>
            <a:ext cx="4838547" cy="12573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Embeddings para sugerir quando duas redações dizem o mesmo, sempre com revisão humana e com o trecho à vista.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091940"/>
            <a:ext cx="5295747" cy="203454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91940"/>
            <a:ext cx="63500" cy="20345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427482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🕓  Histórico de versões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4713732"/>
            <a:ext cx="4838547" cy="12573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Acompanhar a mesma apólice renovada ano a ano e destacar apenas o que mudou entre as versões.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5867" y="4091940"/>
            <a:ext cx="5295747" cy="203454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55867" y="4091940"/>
            <a:ext cx="63500" cy="20345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1899" y="4274820"/>
            <a:ext cx="483854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☁️  Da máquina local ao serviço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1899" y="4713732"/>
            <a:ext cx="4838547" cy="12573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Fila de processamento e banco gerenciado, para uso simultâneo por mais de um corretor — sem perder a rastreabilidade.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Jarvis / I2A2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D9488"/>
                </a:solidFill>
                <a:latin typeface="Segoe UI"/>
              </a:rPr>
              <a:t>EQUIPE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8312F"/>
                </a:solidFill>
                <a:latin typeface="Segoe UI"/>
              </a:rPr>
              <a:t>Quem fez o quê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371600" cy="508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2522143" cy="210312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057400"/>
            <a:ext cx="206494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Daniel Ramon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14600"/>
            <a:ext cx="2064943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Segoe UI"/>
              </a:rPr>
              <a:t>Ingestão e OCR · armazenamento e comparação · documentação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36543" y="1783080"/>
            <a:ext cx="2522143" cy="210312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65143" y="2057400"/>
            <a:ext cx="206494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Paulo Henrique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5143" y="2514600"/>
            <a:ext cx="2064943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Segoe UI"/>
              </a:rPr>
              <a:t>Campos e cláusulas D&amp;O · conteúdo de negócio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6" y="1783080"/>
            <a:ext cx="2522143" cy="210312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1606" y="2057400"/>
            <a:ext cx="206494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Nicole Paes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1606" y="2514600"/>
            <a:ext cx="2064943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Segoe UI"/>
              </a:rPr>
              <a:t>Extração das cláusulas com IA generativa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29469" y="1783080"/>
            <a:ext cx="2522143" cy="2103120"/>
          </a:xfrm>
          <a:prstGeom prst="roundRect">
            <a:avLst>
              <a:gd name="adj" fmla="val 12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69" y="2057400"/>
            <a:ext cx="206494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8312F"/>
                </a:solidFill>
                <a:latin typeface="Segoe UI"/>
              </a:rPr>
              <a:t>Paulo Roberto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69" y="2514600"/>
            <a:ext cx="2064943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Segoe UI"/>
              </a:rPr>
              <a:t>Interface, demonstração e apresentação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206240"/>
            <a:ext cx="10881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F172A"/>
                </a:solidFill>
                <a:latin typeface="Segoe UI"/>
              </a:rPr>
              <a:t>Juliana Catarina é a representante do grupo e responde pelo envio da entrega.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F172A"/>
                </a:solidFill>
                <a:latin typeface="Segoe UI"/>
              </a:rPr>
              <a:t>Entrega: 06/10/2026 — ZIP com o código-fonte, este pitch deck e o vídeo de até 5 minutos demonstrando o problema, a arquitetura, a aplicação em uso e os resultados.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355080"/>
            <a:ext cx="8778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Plataforma de análise e comparação de apólices D&amp;O · grupo Jarvis / I2A2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3550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